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731520"/>
            <a:ext cx="2834640" cy="5394960"/>
          </a:xfrm>
          <a:prstGeom prst="rect">
            <a:avLst/>
          </a:prstGeom>
          <a:solidFill>
            <a:srgbClr val="1A253A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A90D9"/>
                </a:solidFill>
              </a:rPr>
              <a:t>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743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8"/>
                </a:solidFill>
              </a:rPr>
              <a:t>AI Copilot for
Operational
Decision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4A90D9"/>
                </a:solidFill>
              </a:rPr>
              <a:t>AI Copilot for Operational Decision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1457432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8"/>
                </a:solidFill>
              </a:rPr>
              <a:t>End-to-end portfolio project — Day 1 through Day 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1591056" cy="347472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Python 3.10+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1136" y="3703320"/>
            <a:ext cx="1700784" cy="347472"/>
          </a:xfrm>
          <a:prstGeom prst="rect">
            <a:avLst/>
          </a:prstGeom>
          <a:solidFill>
            <a:srgbClr val="1A25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373075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Claude Sonnet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703320"/>
            <a:ext cx="1920239" cy="347472"/>
          </a:xfrm>
          <a:prstGeom prst="rect">
            <a:avLst/>
          </a:prstGeom>
          <a:solidFill>
            <a:srgbClr val="1A253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7307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LangChain +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2578608" cy="347472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3730752"/>
            <a:ext cx="2395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PostgreSQL + pgvector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9408" y="3703320"/>
            <a:ext cx="1261872" cy="347472"/>
          </a:xfrm>
          <a:prstGeom prst="rect">
            <a:avLst/>
          </a:prstGeom>
          <a:solidFill>
            <a:srgbClr val="1A25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3730752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Aman Sharma  |  Sr. Business Analyst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C0"/>
                </a:solidFill>
              </a:rPr>
              <a:t>41 days  •  40+ commits  •  &lt;$15 total API cost  •  v1.0 shipped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Operations Teams Are Drowning in Manual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868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⏱  15 min/case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8191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Cross-checking records, comparing attributes, reconstructing rationale by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1430000" cy="868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🔍  No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8775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Existing tools surface raw scores — reviewers must interpret them alone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11430000" cy="868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📋  Audit is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93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Responding to audit questions requires engineering mediation, often 24–48h delay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26280"/>
            <a:ext cx="11430000" cy="868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📈  Volume grows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994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As decision volumes scale, manual review becomes the critical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23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</a:rPr>
              <a:t>Industries affected: Healthcare  •  Finance  •  Government  •  Insurance  •  Supply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Verify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5212080"/>
          </a:xfrm>
          <a:prstGeom prst="rect">
            <a:avLst/>
          </a:prstGeom>
          <a:solidFill>
            <a:srgbClr val="1A253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90D9"/>
                </a:solidFill>
              </a:rPr>
              <a:t>🤖  AI Rationale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SAME / DISTINCT / ESCALATE decision in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Confidence score + specific evidence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9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Plain-English explanation, cached per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638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PII redacted before any external API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25880"/>
            <a:ext cx="3566160" cy="5212080"/>
          </a:xfrm>
          <a:prstGeom prst="rect">
            <a:avLst/>
          </a:prstGeom>
          <a:solidFill>
            <a:srgbClr val="1A25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💬  Ops Q&amp;A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11457432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Ask plain-English questions over decision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95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Hybrid RAG: vector + full-text + Cohere rerank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79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Every answer cites specific reviewer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638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110 synthetic reviewer notes, embedded + indexed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325880"/>
            <a:ext cx="3566160" cy="5212080"/>
          </a:xfrm>
          <a:prstGeom prst="rect">
            <a:avLst/>
          </a:prstGeom>
          <a:solidFill>
            <a:srgbClr val="1A25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</a:rPr>
              <a:t>🚨  Anomaly Watcher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920240"/>
            <a:ext cx="11457432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4 KPI metrics: volume, freshness, confidence,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395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2σ deviation flags + 30-day sparklines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779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Claude-generated hypothesis for each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1638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</a:rPr>
              <a:t>• Catches feed failures before they hit the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Result: Review time drops from 14 minutes to under 3 minutes per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 — Layer by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097280" cy="6583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53895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325880"/>
            <a:ext cx="10287000" cy="658368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3533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Streamlit Reviewer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4591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Reviewer Inbox  •  Ops Q&amp;A Chat  •  Anomaly Watcher  •  Eval Results 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109728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03704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2075688"/>
            <a:ext cx="10287000" cy="658368"/>
          </a:xfrm>
          <a:prstGeom prst="rect">
            <a:avLst/>
          </a:prstGeom>
          <a:solidFill>
            <a:srgbClr val="1A253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103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LangGraph Triage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95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Auto-Merge (≥0.95)  •  Steward Review (0.60–0.94)  •  Auto-Separate (&lt;0.60)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25496"/>
            <a:ext cx="1097280" cy="6583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5351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825496"/>
            <a:ext cx="10287000" cy="658368"/>
          </a:xfrm>
          <a:prstGeom prst="rect">
            <a:avLst/>
          </a:prstGeom>
          <a:solidFill>
            <a:srgbClr val="1A253A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85292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LangChain + LangSmith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14553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pgvector Retriever → Cohere Rerank → PII Redaction → Claude Sonnet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75303"/>
            <a:ext cx="1097280" cy="65836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3575303"/>
            <a:ext cx="10287000" cy="658368"/>
          </a:xfrm>
          <a:prstGeom prst="rect">
            <a:avLst/>
          </a:prstGeom>
          <a:solidFill>
            <a:srgbClr val="1A253A"/>
          </a:solidFill>
          <a:ln w="63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3602735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Supabase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8953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raw.synthea_patients  •  staging.members  •  reviewer_notes + HNSW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25112"/>
            <a:ext cx="1097280" cy="65836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453127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External APIs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4325112"/>
            <a:ext cx="10287000" cy="658368"/>
          </a:xfrm>
          <a:prstGeom prst="rect">
            <a:avLst/>
          </a:prstGeom>
          <a:solidFill>
            <a:srgbClr val="1A253A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43525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Voyage AI  •  Anthropic  •  Cohere  •  LangSmith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645151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Embeddings  •  LLM Rationale  •  Reranking  •  Observability tracing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94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</a:rPr>
              <a:t>18 SQL migrations  •  15+ Python modules  •  @traceable on all LLM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Technology Choices &amp;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66928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HNSW over IVFFlat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370× faster similarity search. IVFFlat failed on Supabase free tier. HNSW: 0.6ms vs 239ms sequential scan. Documented in ADR-002.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566928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Voyage AI over OpenAI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200M free tokens on free tier. Retrieval-optimized model. 512-dim vectors reduce index size vs 1536-dim Ada. Cost: $0 for full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566928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Hybrid Search over Pure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Pure vector misses keyword-specific queries ('SSN transposed', 'ZIP+4'). 70/30 blend of cosine + ts_rank. Catches what semantics alone cannot.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17720"/>
            <a:ext cx="566928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Cohere Rerank after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Cross-encoder scores query-document relevance more precisely than embedding distance. Free tier. top-50 → rerank → top-5 with fallback if API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557784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spaCy NER for PII redaction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Lighter than full Presidio. Masks PERSON/DATE/GPE/LOC/ORG before every Claude call. Mapping in memory only — never persisted. ~50ms latency overhead.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23160"/>
            <a:ext cx="557784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Pydantic structured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LLM outputs are inherently unstructured. Pydantic schema enforces recommendation/confidence/evidence/rationale_text. Catches malformed JSON at runtime.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20440"/>
            <a:ext cx="557784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Claude Sonnet for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Handles structured JSON output reliably. LangChain Pydantic integration clean. Model-agnostic via LangChain — swap to GPT-4 with one config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6E8"/>
                </a:solidFill>
              </a:rPr>
              <a:t>Every choice is documented in the Architecture Decision Records (ADRs) in docs/adr/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BUILD JOURNEY —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Days 1–13: Foundation to Full Feature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474720" cy="1993392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80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Days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18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50K synthetic Synthea records loaded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Staging layer: normalized names, DOBs, SSN, addresses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694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PRD written — problem, users, success metrics, risks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325880"/>
            <a:ext cx="3474720" cy="1993392"/>
          </a:xfrm>
          <a:prstGeom prst="rect">
            <a:avLst/>
          </a:prstGeom>
          <a:solidFill>
            <a:srgbClr val="1A253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380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Day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18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Embeddings &amp; Vector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65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Voyage AI embeddings (voyage-3-lite, 512-dim)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677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HNSW index benchmark: 370× faster than sequential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694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ADR-002 written — indexing strategy documented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25880"/>
            <a:ext cx="3474720" cy="1993392"/>
          </a:xfrm>
          <a:prstGeom prst="rect">
            <a:avLst/>
          </a:prstGeom>
          <a:solidFill>
            <a:srgbClr val="1A253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3807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Day 4–4b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618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Scoring &amp;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965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38,867 candidate pairs scored across 3 tiers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2677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Streamlit reviewer inbox: pagination, dark mode,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5694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Tier-specific action buttons (Merge/Separate/Escalate)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20440"/>
            <a:ext cx="3474720" cy="1993392"/>
          </a:xfrm>
          <a:prstGeom prst="rect">
            <a:avLst/>
          </a:prstGeom>
          <a:solidFill>
            <a:srgbClr val="1A25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575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</a:rPr>
              <a:t>Day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Rebrand + Tracing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160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Renamed: Resolve MDM → Verify (generic ops)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462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LangSmith tracing wired (@traceable on all chains)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7640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PRD v0.4 updated with version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3520440"/>
            <a:ext cx="3474720" cy="1993392"/>
          </a:xfrm>
          <a:prstGeom prst="rect">
            <a:avLst/>
          </a:prstGeom>
          <a:solidFill>
            <a:srgbClr val="1A25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575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Day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PII + AI Rationale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160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spaCy NER redact-before-send 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462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Claude rationale: SAME/DISTINCT/ESCALATE +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7640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Audit log: external_llm_calls 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520440"/>
            <a:ext cx="3474720" cy="1993392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3575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Days 7–9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Eval + Hybrid 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160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100-case golden eval set (30 HC / 50 GZ / 20 LC)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462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Hybrid search: 70% vector + 30% full-text ts_rank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7640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Cohere rerank: top-50 → top-5 cross-encoder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DEEP DIVE —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Retrieval-Augmented Generation Works in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32588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
Query
Received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325880"/>
            <a:ext cx="132588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
Voyage AI
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325880"/>
            <a:ext cx="13258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
Hybrid
Search
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325880"/>
            <a:ext cx="1325880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
Cohere
Rerank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325880"/>
            <a:ext cx="132588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
PII
Redact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325880"/>
            <a:ext cx="132588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
Claude
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325880"/>
            <a:ext cx="132588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
Pydantic
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645919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5560" y="1325880"/>
            <a:ext cx="13258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1371600"/>
            <a:ext cx="1234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
Cache +
Display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23160"/>
            <a:ext cx="2743200" cy="2011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496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Hybrid Search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score = 0.7 × (1 − cosine_distance) + 0.3 × ts_rank_cd(tsvector, query)
Retrieves top-50 candidates from pgvector HNSW index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423160"/>
            <a:ext cx="2743200" cy="2011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496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Cohere Rerank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rerank-v3.5 cross-encoder rescores top-50 on query-document relevance
Returns top-5 with relevance_score. Fallback to hybrid order if API 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423160"/>
            <a:ext cx="2743200" cy="2011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2496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PII Redaction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spaCy en_core_web_sm NER masks: PERSON→[PERSON_1], DATE→[DATE_1],
GPE/LOC/ORG similarly. Mapping kept in-memory. ~50ms latency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2423160"/>
            <a:ext cx="2743200" cy="2011680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496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Pydantic Output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OpsAnswer(answer_text, cited_evidence_ids, confidence)
RationaleOutput(recommendation, confidence, evidence, rationale_text)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623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6E8"/>
                </a:solidFill>
              </a:rPr>
              <a:t>110 reviewer notes embedded with HNSW index  •  Ops Q&amp;A: answer + cited_evidence_ids + confidence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3-Layer Evaluation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4389120"/>
          </a:xfrm>
          <a:prstGeom prst="rect">
            <a:avLst/>
          </a:prstGeom>
          <a:solidFill>
            <a:srgbClr val="1A253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90D9"/>
                </a:solidFill>
              </a:rPr>
              <a:t>Layer 1
Golden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84831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100 hand-labeled cases (30 HC / 50 GZ / 20 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94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Decision agreement, per-tier accuracy, auto-resolve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6265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20-question Ops Q&amp;A golden set — context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Run: python eval/run_eval.py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25880"/>
            <a:ext cx="3566160" cy="4389120"/>
          </a:xfrm>
          <a:prstGeom prst="rect">
            <a:avLst/>
          </a:prstGeom>
          <a:solidFill>
            <a:srgbClr val="1A25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</a:rPr>
              <a:t>Layer 2
LLM-as-Judge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84831"/>
            <a:ext cx="11457432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1762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GPT-4o scores Claude's rationale (cross-model — avoids self-eval bias)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694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3-dimension rubric: correctness, evidence grounding, clarity (1–5 each)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6265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overall_pass = True if all dimensions ≥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558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Hallucination proxy: evidence_grounding ≤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325880"/>
            <a:ext cx="3566160" cy="4389120"/>
          </a:xfrm>
          <a:prstGeom prst="rect">
            <a:avLst/>
          </a:prstGeom>
          <a:solidFill>
            <a:srgbClr val="1A25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4173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</a:rPr>
              <a:t>Layer 3
Failure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84831"/>
            <a:ext cx="11457432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1762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Every run generates failure list ranked by confidence-weighted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5694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Each failure diagnosed: bad retrieval / weak prompt / model confusion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96265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Root cause → prompt tuning → re-run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3558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ADR-004 documents all known limitations honestly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 Bars to Ship: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5806440"/>
            <a:ext cx="2560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5852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Agreement ≥ 85%  →  93%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5806440"/>
            <a:ext cx="2560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5852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Faithfulness ≥ 0.85  →  0.91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5806440"/>
            <a:ext cx="2560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19" y="5852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Hallucination &lt; 5%  →  ~3%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EVAL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Before &amp; After Prompt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2011680"/>
          </a:xfrm>
          <a:prstGeom prst="rect">
            <a:avLst/>
          </a:prstGeom>
          <a:solidFill>
            <a:srgbClr val="1A253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Decision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88% → 93%  (+5%)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743200" cy="2011680"/>
          </a:xfrm>
          <a:prstGeom prst="rect">
            <a:avLst/>
          </a:prstGeom>
          <a:solidFill>
            <a:srgbClr val="1A25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DISTINCT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60% → 100%  (+40%)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2743200" cy="2011680"/>
          </a:xfrm>
          <a:prstGeom prst="rect">
            <a:avLst/>
          </a:prstGeom>
          <a:solidFill>
            <a:srgbClr val="1A25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Auto-Resolve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100% → 100%  (— 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325880"/>
            <a:ext cx="2743200" cy="2011680"/>
          </a:xfrm>
          <a:prstGeom prst="rect">
            <a:avLst/>
          </a:prstGeom>
          <a:solidFill>
            <a:srgbClr val="1A25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Hallucination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8288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~3%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~5% → ~3%  (−2%)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20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Root Cause Analysis — 12 Failures Found and Fixed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41648"/>
            <a:ext cx="2560320" cy="384048"/>
          </a:xfrm>
          <a:prstGeom prst="rect">
            <a:avLst/>
          </a:prstGeom>
          <a:solidFill>
            <a:srgbClr val="4A90D9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87368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041648"/>
            <a:ext cx="914400" cy="384048"/>
          </a:xfrm>
          <a:prstGeom prst="rect">
            <a:avLst/>
          </a:prstGeom>
          <a:solidFill>
            <a:srgbClr val="4A90D9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39" y="4087368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041648"/>
            <a:ext cx="3200400" cy="384048"/>
          </a:xfrm>
          <a:prstGeom prst="rect">
            <a:avLst/>
          </a:prstGeom>
          <a:solidFill>
            <a:srgbClr val="4A90D9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4087368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4041648"/>
            <a:ext cx="3200400" cy="384048"/>
          </a:xfrm>
          <a:prstGeom prst="rect">
            <a:avLst/>
          </a:prstGeom>
          <a:solidFill>
            <a:srgbClr val="4A90D9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4087368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Fix Applied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41648"/>
            <a:ext cx="1645920" cy="384048"/>
          </a:xfrm>
          <a:prstGeom prst="rect">
            <a:avLst/>
          </a:prstGeom>
          <a:solidFill>
            <a:srgbClr val="4A90D9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408736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25696"/>
            <a:ext cx="256032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471416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Over-cautious DISTINCT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4425696"/>
            <a:ext cx="914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39" y="447141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4425696"/>
            <a:ext cx="3200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471416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No explicit rule for all-zero hard IDs + name=1.0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425696"/>
            <a:ext cx="3200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471416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Added DISTINCT boundary + few-shot example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4425696"/>
            <a:ext cx="164592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2760" y="447141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0 remaining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809744"/>
            <a:ext cx="256032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855464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Nickname redaction miss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4809744"/>
            <a:ext cx="914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63239" y="48554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4809744"/>
            <a:ext cx="3200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9080" y="4855464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spaCy redacts WILLIAM, misses BILL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4809744"/>
            <a:ext cx="3200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4855464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Score-based fallback: name≥0.75+hard IDs→SAME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4809744"/>
            <a:ext cx="164592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52760" y="485546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1 fixed, 1 partial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193792"/>
            <a:ext cx="256032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239512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Ambiguity misjudgment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5193792"/>
            <a:ext cx="914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63239" y="5239512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193792"/>
            <a:ext cx="3200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5239512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ESCALATE over-classified as DISTINCT post-tuning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5193792"/>
            <a:ext cx="320040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0920" y="5239512"/>
            <a:ext cx="3108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Accepted tradeoff (safer than false SAME)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7040" y="5193792"/>
            <a:ext cx="1645920" cy="384048"/>
          </a:xfrm>
          <a:prstGeom prst="rect">
            <a:avLst/>
          </a:prstGeom>
          <a:solidFill>
            <a:srgbClr val="1A253A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52760" y="523951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Documented ADR-004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DATA SAFETY — ADR-005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PII Handling: Redact-Before-Send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920240" cy="105156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90D9"/>
                </a:solidFill>
              </a:rPr>
              <a:t>Record Data
(names, DOBs,
addresses)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190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25880"/>
            <a:ext cx="1920240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8988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spaCy NER
en_core_web_sm
5 entity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190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25880"/>
            <a:ext cx="1920240" cy="1051560"/>
          </a:xfrm>
          <a:prstGeom prst="rect">
            <a:avLst/>
          </a:prstGeom>
          <a:solidFill>
            <a:srgbClr val="1A253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Redacted
Prompt
[PERSON_1]...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190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325880"/>
            <a:ext cx="1920240" cy="1051560"/>
          </a:xfrm>
          <a:prstGeom prst="rect">
            <a:avLst/>
          </a:prstGeom>
          <a:solidFill>
            <a:srgbClr val="CC78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38988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
Sonnet
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7190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325880"/>
            <a:ext cx="1920240" cy="105156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38988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90D9"/>
                </a:solidFill>
              </a:rPr>
              <a:t>Structured
Rationale
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514600"/>
            <a:ext cx="2377440" cy="548640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</a:rPr>
              <a:t>↑  Mapping dict in memory
(never persisted to disk)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Entities Redacted: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2240280" cy="685800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393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PERSON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Names → [PERSON_1]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611880"/>
            <a:ext cx="2240280" cy="685800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6393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9319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DOBs → [DATE_1]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611880"/>
            <a:ext cx="2240280" cy="685800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36393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39319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Cities → [GPE_1]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611880"/>
            <a:ext cx="2240280" cy="685800"/>
          </a:xfrm>
          <a:prstGeom prst="rect">
            <a:avLst/>
          </a:prstGeom>
          <a:solidFill>
            <a:srgbClr val="1A253A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19" y="36393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LOC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39319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Regions → [LOC_1]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19" y="3611880"/>
            <a:ext cx="2240280" cy="685800"/>
          </a:xfrm>
          <a:prstGeom prst="rect">
            <a:avLst/>
          </a:prstGeom>
          <a:solidFill>
            <a:srgbClr val="1A253A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59" y="36393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ORG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39319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Systems → [ORG_1]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480560"/>
            <a:ext cx="11430000" cy="1280160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Audit Log — staging.external_llm_calls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56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called_at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230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timestamp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956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5230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claude-sonnet-4-6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956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redacted_input_length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230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chars redacted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956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response_length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230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chars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956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cost_estimate_usd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5230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estimated $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778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Metadata only — no raw PII, no redacted content stored in the 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42 CFR Part 2: SUD records → forced ESCALATE regardless of confidence. All merges require human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HONEST ENGINEERING — ADR-004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Known Limitations &amp; Deliberate Tradeoffs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896112"/>
          </a:xfrm>
          <a:prstGeom prst="rect">
            <a:avLst/>
          </a:prstGeom>
          <a:solidFill>
            <a:srgbClr val="1A253A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0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ESCALATE Accuracy: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807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⚠  The ESCALATE tier is inherently subjective — same name/DOB + different SSN could be data entry error OR coincidence. Fixing DISTINCT boundary made model more decisive, dropping ESCALATE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7830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7AE60"/>
                </a:solidFill>
              </a:rPr>
              <a:t>✓  Over-classifying ESCALATE as DISTINCT is safer than SAME — a human reviewer catches it. Auto-resolve (SAME ≥0.95) has 100%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11430000" cy="896112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68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PII Redaction Hides Nicknames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682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⚠  spaCy redacts 'WILLIAM' but may leave 'BILL' unmasked. The model can't recognise the nickname pair and escalates instead of merging.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706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7AE60"/>
                </a:solidFill>
              </a:rPr>
              <a:t>✓  Score-based fallback: name_sim ≥0.75 + strong hard IDs → SAME. Fixed 1 of 3 nickname failures. Documented as known edge case.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896112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55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Voyage API Rate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3558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⚠  Free tier: ~3 req/min. Ops Q&amp;A eval takes ~15 min for 20 questions due to exponential-backoff retries (21s, 42s).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581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7AE60"/>
                </a:solidFill>
              </a:rPr>
              <a:t>✓  Doesn't affect production UX (single queries). Paid tier upgrade is a config change. Acceptable for portfolio project.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88536"/>
            <a:ext cx="11430000" cy="896112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Synthetic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343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⚠  100 golden-set cases and 110 reviewer notes are synthetic. Real-world distribution of naming patterns and error types may differ.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7457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7AE60"/>
                </a:solidFill>
              </a:rPr>
              <a:t>✓  Synthea designed to mimic real-world complexity. Golden set over-represents edge cases. Real deployment would require validation on production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76088"/>
            <a:ext cx="11430000" cy="896112"/>
          </a:xfrm>
          <a:prstGeom prst="rect">
            <a:avLst/>
          </a:prstGeom>
          <a:solidFill>
            <a:srgbClr val="1A253A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30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Single-Model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3309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⚠  Both chains use Claude Sonnet. API outage disables copilot entirely.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7332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7AE60"/>
                </a:solidFill>
              </a:rPr>
              <a:t>✓  LangChain abstraction = swap model with one config line. Pydantic schema works with any LLM that supports structured output.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6E8"/>
                </a:solidFill>
              </a:rPr>
              <a:t>Documenting limitations honestly is credibility-positive — it shows we understand the system's boundaries.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Verify — Key Metrics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566160" cy="1874519"/>
          </a:xfrm>
          <a:prstGeom prst="rect">
            <a:avLst/>
          </a:prstGeom>
          <a:solidFill>
            <a:srgbClr val="1A253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39"/>
            <a:ext cx="3383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4A90D9"/>
                </a:solidFill>
              </a:rP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Synthetic records
(Synthea)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325880"/>
            <a:ext cx="3566160" cy="1874519"/>
          </a:xfrm>
          <a:prstGeom prst="rect">
            <a:avLst/>
          </a:prstGeom>
          <a:solidFill>
            <a:srgbClr val="1A25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463039"/>
            <a:ext cx="3383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A623"/>
                </a:solidFill>
              </a:rPr>
              <a:t>38,867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3172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Candidate pairs
scored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325880"/>
            <a:ext cx="3566160" cy="1874519"/>
          </a:xfrm>
          <a:prstGeom prst="rect">
            <a:avLst/>
          </a:prstGeom>
          <a:solidFill>
            <a:srgbClr val="1A253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463039"/>
            <a:ext cx="3383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7AE60"/>
                </a:solidFill>
              </a:rPr>
              <a:t>370×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33172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HNSW speedup
vs sequential 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29000"/>
            <a:ext cx="3566160" cy="1874519"/>
          </a:xfrm>
          <a:prstGeom prst="rect">
            <a:avLst/>
          </a:prstGeom>
          <a:solidFill>
            <a:srgbClr val="1A25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66160"/>
            <a:ext cx="3383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9B59B6"/>
                </a:solidFill>
              </a:rPr>
              <a:t>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3484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Decision agreement
after 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429000"/>
            <a:ext cx="3566160" cy="1874519"/>
          </a:xfrm>
          <a:prstGeom prst="rect">
            <a:avLst/>
          </a:prstGeom>
          <a:solidFill>
            <a:srgbClr val="1A25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3566160"/>
            <a:ext cx="3383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74C3C"/>
                </a:solidFill>
              </a:rPr>
              <a:t>&lt;$15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3484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Total API cost
entire 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429000"/>
            <a:ext cx="3566160" cy="1874519"/>
          </a:xfrm>
          <a:prstGeom prst="rect">
            <a:avLst/>
          </a:prstGeom>
          <a:solidFill>
            <a:srgbClr val="1A253A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566160"/>
            <a:ext cx="3383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4A90D9"/>
                </a:solidFill>
              </a:rPr>
              <a:t>8 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43484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Avg rationale
generation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Additional stats: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100  Golden eval cases (30 HC / 50 GZ / 20 LC)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8521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110  Reviewer notes embedded + indexed (HNSW)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7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512  Vector dimensions (voyage-3-lite)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00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18   SQL migrations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20   Ops Q&amp;A golden set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8521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5    PII entity types redacted before LLM 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612647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3    Architecture Decision Records (ADRs)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6400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40+  Git commits across 41 build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 Learned — BA Building an AI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841248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Eval before shipping — 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38988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Starting with a golden set forced precision before writing a line of product code. 88% agreement felt good. Diagnosing the 12 failures was the actual learning — all were prompt-level, not retrieval failures. Without eval, I'd have shipped the wrong 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11430000" cy="841248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Prompt engineering is disciplined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0428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Adding explicit decision boundaries + 3 few-shot examples moved DISTINCT accuracy from 60% → 100%. Each change was a hypothesis, measured against the golden set. Grounding rules ('only claim what is in the data') cut hallucination rate from ~5% to ~3%.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11430000" cy="841248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Tradeoffs deserve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1868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ESCALATE accuracy dropped from 80% → 60% after tuning. That's actually correct — over-classifying ambiguous cases as DISTINCT is safer than SAME. Writing ADR-004 turned a seeming regression into a documented, reasoned tradeoff.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11430000" cy="841248"/>
          </a:xfrm>
          <a:prstGeom prst="rect">
            <a:avLst/>
          </a:prstGeom>
          <a:solidFill>
            <a:srgbClr val="1A253A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330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PII architecture is a first-class design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13308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The redact-before-send pattern wasn't bolted on — it shaped the entire pipeline. spaCy masking SSN/names before Claude calls means the AI never sees raw PII. This is architecture, not compliance checkbox.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83480"/>
            <a:ext cx="11430000" cy="841248"/>
          </a:xfrm>
          <a:prstGeom prst="rect">
            <a:avLst/>
          </a:prstGeom>
          <a:solidFill>
            <a:srgbClr val="1A253A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Hybrid beats pure vector for operational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04748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Keyword-specific queries ('SSN transposed digits', '42 CFR Part 2') fail pure vector search. The 70/30 blend with ts_rank_cd caught what semantic similarity missed. Cohere reranking added another precision layer with zero extra latency in practice.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97880"/>
            <a:ext cx="11430000" cy="841248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61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Ship something real, then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961888"/>
            <a:ext cx="8046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The rebrand from Resolve MDM → Verify (generic ops) happened because the architecture was sound but the framing was too narrow. Building a working system first revealed what the broader use case was. You can't refactor a hypothesis.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ARCHITECTURE DECISION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 ADRs — Decision Log for the Entire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8872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00200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ADR-001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3807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Open-Source Stack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6479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Why Supabase+pgvector over Pinecone, why Voyage AI over OpenAI embeddings, why LangChain over bare API calls. Every choice tied back to cost, control, and portability.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3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39"/>
            <a:ext cx="1188720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651759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ADR-002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3230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Vector Indexing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1635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HNSW vs IVFFlat benchmarked on actual Supabase free tier. IVFFlat failed (index creation error on free tier). HNSW: 0.6ms vs 239ms sequential scan = 370× speedup. Decision: HNSW with ef_construction=200, m=16.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899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28999"/>
            <a:ext cx="118872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703320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ADR-003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48386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Evaluation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6791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3-layer eval: golden set metrics (100 cases), LLM-as-judge (GPT-4o cross-model), qualitative failure analysis. Quality bars: agreement ≥85%, faithfulness ≥0.85, hallucination &lt;5%. All three met after round 1 tuning.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5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80559"/>
            <a:ext cx="1188720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754879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ADR-004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3542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Known 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ESCALATE accuracy 60% (accepted tradeoff), PII redaction hides nicknames (score-based workaround), Voyage rate limits (retry logic), synthetic data only, single-model dependency (LangChain abstraction mitigates).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1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532119"/>
            <a:ext cx="1188720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806439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ADR-005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58698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PII Handling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97103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Redact-before-send: spaCy NER strips PERSON/DATE/GPE/LOC/ORG before every LLM call. Mapping dict in memory only. Audit log records metadata only. 42 CFR Part 2 forces ESCALATE. SSN passed as 0/1 score, never as raw digits.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DEMO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4-Minute Demo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37160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90472"/>
            <a:ext cx="1335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0:00–0:30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3807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76479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Talk without screen. Key numbers: 38,867 pairs, 144 grey-zone, 14-min avg review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3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39"/>
            <a:ext cx="1371600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42032"/>
            <a:ext cx="1335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0:30–2:00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3230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Inbox + AI 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1635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Show Pending Review tab → expand a candidate → click Generate AI Rationale.
Say: '8 seconds. Without AI: 14 minutes. Rationale cached for all future viewers.'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899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28999"/>
            <a:ext cx="137160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93591"/>
            <a:ext cx="1335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2:00–3:00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4838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Ops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86791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Switch to Ops Q&amp;A tab. Ask: 'How does the team handle nickname differences?'
Point to citations panel. Say: '2 specific notes cited. Every claim traces back to a real reviewer decision.'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5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80559"/>
            <a:ext cx="1371600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645151"/>
            <a:ext cx="1335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3:00–3:30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53542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Anomaly Watcher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91947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Show 4 KPI tiles → active staleness alert → click Explain Alerts.
Say: 'Catches feed failures before they hit the reviewer queue.'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19"/>
            <a:ext cx="11430000" cy="960120"/>
          </a:xfrm>
          <a:prstGeom prst="rect">
            <a:avLst/>
          </a:prstGeom>
          <a:solidFill>
            <a:srgbClr val="1A253A"/>
          </a:solidFill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532119"/>
            <a:ext cx="1371600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696711"/>
            <a:ext cx="1335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3:30–4:00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58698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Eval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971031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Switch to Eval Results tab. Show 93% agreement, 100% DISTINCT, all targets met.
Say: 'This is the system grading itself — 100 hand-labeled cases, not vibes.'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Pre-demo: streamlit run app/streamlit_app.py  •  Verify .env has all 5 keys  •  Have architecture diagram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Talking Points for Technical Interviews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536192"/>
          </a:xfrm>
          <a:prstGeom prst="rect">
            <a:avLst/>
          </a:prstGeom>
          <a:solidFill>
            <a:srgbClr val="1A253A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Q: What was the hardest technical challenge?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Option A — Retrieval: Pure vector missed keyword queries. Built hybrid: 70% cosine + 30% ts_rank_cd, then Cohere rerank. Measurably better precision.
Option B — Eval: Built a 100-case golden set + harness. 88% baseline. Diagnosed 12 failures (all prompt-level). Tuned to 93% with 3 few-shot examples + decision boundaries.
Option C — Data Safety: spaCy NER redacts before every LLM call. Mapping in memory. Audit log records metadata only. In regulated industries, this is non-negotiable.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90088"/>
            <a:ext cx="11430000" cy="1536192"/>
          </a:xfrm>
          <a:prstGeom prst="rect">
            <a:avLst/>
          </a:prstGeom>
          <a:solidFill>
            <a:srgbClr val="1A253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540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Q: How would you scale this?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4728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3 axes: (1) Scoring engine — Soundex+DOB blocking reduces O(n²) pairs. At 500K+ records move to PySpark/Dask for scoring pass.
(2) LLM cost — rationale cached to JSONB column. Pay once per pair. Batch-generate off-peak.
(3) Retrieval — HNSW scales linearly with inserts. Current architecture handles 1M+ embeddings without redesign.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54296"/>
            <a:ext cx="11430000" cy="1536192"/>
          </a:xfrm>
          <a:prstGeom prst="rect">
            <a:avLst/>
          </a:prstGeom>
          <a:solidFill>
            <a:srgbClr val="1A253A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1830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Q: Why this stack?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1149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</a:rPr>
              <a:t>Every choice was deliberate. Supabase: Postgres+pgvector in one managed service. Voyage AI: retrieval-optimized, 200M free tokens.
Claude: reliable structured JSON output + clean Pydantic integration via LangChain. LangChain: model-agnostic — swap to GPT-4 with one config line.
Streamlit: ops analysts, not developers — must be accessible without training.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What's Next — If This Were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57432" cy="182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804672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🔗  Connect Q&amp;A to Real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389888"/>
            <a:ext cx="6995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Current Ops Q&amp;A answers questions about patterns in reviewer notes. Next: wire it to actual decision_candidates so reviewers ask about specific pairs ('Why was HC-2291 marked DISTINCT?') and get case-specific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03704"/>
            <a:ext cx="11430000" cy="804672"/>
          </a:xfrm>
          <a:prstGeom prst="rect">
            <a:avLst/>
          </a:prstGeom>
          <a:solidFill>
            <a:srgbClr val="1A253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📊  Reviewer Productivity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67712"/>
            <a:ext cx="6995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Track throughput per reviewer, override rates (AI vs human disagreement), SLA compliance, and confidence drift over time. Gives ops leads actionable quality signals, not just raw decision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81528"/>
            <a:ext cx="11430000" cy="804672"/>
          </a:xfrm>
          <a:prstGeom prst="rect">
            <a:avLst/>
          </a:prstGeom>
          <a:solidFill>
            <a:srgbClr val="1A253A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455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⏰  Automated Anomaly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45536"/>
            <a:ext cx="6995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Auto-trigger compute_daily_anomaly_metrics() via Supabase cron or pg_cron. Push Slack alerts when KPIs cross thresholds. Currently requires manual trigger — automating makes it a true watchdog.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59352"/>
            <a:ext cx="11430000" cy="804672"/>
          </a:xfrm>
          <a:prstGeom prst="rect">
            <a:avLst/>
          </a:prstGeom>
          <a:solidFill>
            <a:srgbClr val="1A253A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🧠  Multi-Model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023360"/>
            <a:ext cx="6995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Route high-confidence rationale to a cheaper model (Claude Haiku), escalate complex gray-zone cases to Claude Sonnet. LangChain abstraction makes this a routing config change, not a rewrite.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37176"/>
            <a:ext cx="11430000" cy="804672"/>
          </a:xfrm>
          <a:prstGeom prst="rect">
            <a:avLst/>
          </a:prstGeom>
          <a:solidFill>
            <a:srgbClr val="1A253A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01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🔐  Presidio Custom Recognizers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901184"/>
            <a:ext cx="6995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Replace spaCy NER with Presidio custom recognizers for healthcare-specific entities: MRN (medical record number), NPI (provider ID), ICD codes. Better coverage for real PHI vs synthetic demo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11430000" cy="804672"/>
          </a:xfrm>
          <a:prstGeom prst="rect">
            <a:avLst/>
          </a:prstGeom>
          <a:solidFill>
            <a:srgbClr val="1A253A"/>
          </a:solidFill>
          <a:ln w="63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79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📈  Production Eval on Real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779008"/>
            <a:ext cx="6995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Golden set is synthetic — fine for architecture validation. Real deployment needs eval on production data with business analysts labelling a random sample. Would likely surface different failure modes than the synthetic set revealed.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90D9"/>
                </a:solidFill>
              </a:rPr>
              <a:t>AI Copilot for Operational Decision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80360"/>
            <a:ext cx="11457432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6" y="3063240"/>
            <a:ext cx="2103120" cy="146304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" y="312724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</a:rPr>
              <a:t>41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" y="38404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Build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6916" y="3063240"/>
            <a:ext cx="2103120" cy="146304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8356" y="312724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</a:rPr>
              <a:t>93%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8356" y="38404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Decision
agreement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2916" y="3063240"/>
            <a:ext cx="2103120" cy="146304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4356" y="312724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4356" y="38404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DISTINCT
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8916" y="3063240"/>
            <a:ext cx="2103120" cy="146304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0356" y="312724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</a:rPr>
              <a:t>&lt;$15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0356" y="38404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Total
API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4916" y="3063240"/>
            <a:ext cx="2103120" cy="1463040"/>
          </a:xfrm>
          <a:prstGeom prst="rect">
            <a:avLst/>
          </a:prstGeom>
          <a:solidFill>
            <a:srgbClr val="1A253A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6356" y="3127248"/>
            <a:ext cx="19202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</a:rPr>
              <a:t>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6356" y="38404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Shipped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Built by Aman Sharma  |  Sr. Business Analyst  |  Healthcare Data  |  Seeking Ireland/UK/EU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• github.com/amansharma03feb/-resolve-mdm-copilot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5595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• docs/adr/  —  5 Architecture Decision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9070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• eval/results/  —  Baseline + tuned eval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A623"/>
                </a:solidFill>
              </a:rPr>
              <a:t>"The system grades itself — 100 hand-labeled cases, not vibes."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